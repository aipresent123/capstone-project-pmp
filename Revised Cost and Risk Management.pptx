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5CF878-C9A2-4019-8025-A198518E29A0}" v="5" dt="2026-08-20T09:09:04.4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7" autoAdjust="0"/>
    <p:restoredTop sz="94660"/>
  </p:normalViewPr>
  <p:slideViewPr>
    <p:cSldViewPr snapToGrid="0">
      <p:cViewPr varScale="1">
        <p:scale>
          <a:sx n="72" d="100"/>
          <a:sy n="72" d="100"/>
        </p:scale>
        <p:origin x="78" y="5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studentromebusinessschool-my.sharepoint.com/personal/fruci_student_romebusinessschool_com/Documents/Presentation_BarStacked100%201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studentromebusinessschool-my.sharepoint.com/personal/fruci_student_romebusinessschool_com/Documents/Presentation_Line%201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Cost Breakdown by Work Package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 (€)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Paid Advertising </c:v>
                </c:pt>
                <c:pt idx="1">
                  <c:v>Content Creation</c:v>
                </c:pt>
                <c:pt idx="2">
                  <c:v>Strategy Development </c:v>
                </c:pt>
                <c:pt idx="3">
                  <c:v>Project Management  </c:v>
                </c:pt>
                <c:pt idx="4">
                  <c:v>Monitoring &amp; Control  </c:v>
                </c:pt>
                <c:pt idx="5">
                  <c:v>Airbnb Optimization </c:v>
                </c:pt>
                <c:pt idx="6">
                  <c:v>Final Evaluation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900</c:v>
                </c:pt>
                <c:pt idx="1">
                  <c:v>550</c:v>
                </c:pt>
                <c:pt idx="2">
                  <c:v>300</c:v>
                </c:pt>
                <c:pt idx="3">
                  <c:v>250</c:v>
                </c:pt>
                <c:pt idx="4">
                  <c:v>250</c:v>
                </c:pt>
                <c:pt idx="5">
                  <c:v>150</c:v>
                </c:pt>
                <c:pt idx="6">
                  <c:v>150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F-84A1-4A66-80EE-C21E78D027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29"/>
        <c:axId val="659769352"/>
        <c:axId val="659804168"/>
      </c:barChart>
      <c:catAx>
        <c:axId val="659769352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9804168"/>
        <c:crosses val="autoZero"/>
        <c:auto val="1"/>
        <c:lblAlgn val="ctr"/>
        <c:lblOffset val="100"/>
        <c:noMultiLvlLbl val="0"/>
      </c:catAx>
      <c:valAx>
        <c:axId val="659804168"/>
        <c:scaling>
          <c:orientation val="minMax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9769352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Project Cost 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Sheet1!$A$2:$A$8</c:f>
              <c:numCache>
                <c:formatCode>mmm\-yy</c:formatCode>
                <c:ptCount val="7"/>
                <c:pt idx="0">
                  <c:v>46113</c:v>
                </c:pt>
                <c:pt idx="1">
                  <c:v>46143</c:v>
                </c:pt>
                <c:pt idx="2">
                  <c:v>46174</c:v>
                </c:pt>
                <c:pt idx="3">
                  <c:v>46204</c:v>
                </c:pt>
                <c:pt idx="4">
                  <c:v>46235</c:v>
                </c:pt>
                <c:pt idx="5">
                  <c:v>46266</c:v>
                </c:pt>
                <c:pt idx="6">
                  <c:v>46296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700</c:v>
                </c:pt>
                <c:pt idx="1">
                  <c:v>1550</c:v>
                </c:pt>
                <c:pt idx="2">
                  <c:v>1900</c:v>
                </c:pt>
                <c:pt idx="3">
                  <c:v>2150</c:v>
                </c:pt>
                <c:pt idx="4">
                  <c:v>2400</c:v>
                </c:pt>
                <c:pt idx="5">
                  <c:v>2805</c:v>
                </c:pt>
                <c:pt idx="6">
                  <c:v>2805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10A-41A6-9839-9499F3ECCE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83006639"/>
        <c:axId val="1083000879"/>
      </c:lineChart>
      <c:dateAx>
        <c:axId val="1083006639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83000879"/>
        <c:crosses val="autoZero"/>
        <c:auto val="1"/>
        <c:lblOffset val="100"/>
        <c:baseTimeUnit val="months"/>
      </c:dateAx>
      <c:valAx>
        <c:axId val="10830008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8300663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3T07:53:21.1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22622 6959 16383 0 0,'0'0'0'0'0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3E0F8-8608-FB32-18D6-2531184911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5F3CEE-EA82-7FC2-0018-C2F1569777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C89666-4382-EDA7-F33E-242358559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EF45F-E0D7-4936-BAA7-B7DA0535F23A}" type="datetimeFigureOut">
              <a:rPr lang="en-GB" smtClean="0"/>
              <a:t>20/08/2026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11C3A4-7070-3F7D-3599-12F7DD8D5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B44811-7533-2D3D-F431-B95FD3553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4137F-4D82-49A4-9519-9089124552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0719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69DB4-9327-2AC3-3E42-8A3B1D1FA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578FCF-1EE8-A163-6A4A-F3B8E0DBA6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357F50-F1CD-D9E9-CCBD-A2A80E2B0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EF45F-E0D7-4936-BAA7-B7DA0535F23A}" type="datetimeFigureOut">
              <a:rPr lang="en-GB" smtClean="0"/>
              <a:t>20/08/2026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4BB35E-B032-B49F-5B48-D30167147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00428-20C8-A835-0DE3-343F42F22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4137F-4D82-49A4-9519-9089124552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876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52020-7682-A30F-A44D-B149E862A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2B3385-CD8F-2246-63D2-E9477A79CE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159522-667F-4BEB-F551-A0F55A837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EF45F-E0D7-4936-BAA7-B7DA0535F23A}" type="datetimeFigureOut">
              <a:rPr lang="en-GB" smtClean="0"/>
              <a:t>20/08/2026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76BC8C-E84F-4544-D7B1-F8CAFBFCC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B37E56-0AFB-B87F-C48B-625CAE389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4137F-4D82-49A4-9519-9089124552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8204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50DA6-B0BA-AB21-B643-EEEA1F0C6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1DCEC-3A63-9E6E-D1AD-36C993D4B6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5FF586-9465-E725-E169-F33515A413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AE52F2-AC19-1EDE-62FD-1964AA501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EF45F-E0D7-4936-BAA7-B7DA0535F23A}" type="datetimeFigureOut">
              <a:rPr lang="en-GB" smtClean="0"/>
              <a:t>20/08/2026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E661AC-E565-B1EE-FB01-28AE8934B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0C596-E650-16E0-A459-1B9CEC10D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4137F-4D82-49A4-9519-9089124552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7672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648C6-7560-4149-BAB7-A99188BEA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CA4E86-F614-B30D-076C-EEDC9F7E2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F6D5C4-F9CC-513A-34CA-CCE9774766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35EE45-9D52-131D-FA8B-0543AE979A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CECAFF-100C-8746-6BE1-71FB18CF9E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F4F35C-A2D6-E587-FA35-04055EC5E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EF45F-E0D7-4936-BAA7-B7DA0535F23A}" type="datetimeFigureOut">
              <a:rPr lang="en-GB" smtClean="0"/>
              <a:t>20/08/2026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C9D7CF-A8CB-1D57-DBBB-0A34F3A94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BC2AD2-F8C1-5091-6C9E-856084948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4137F-4D82-49A4-9519-9089124552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1271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A8626-C83D-9AAA-F726-F423E40FA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E176E3-BA9E-0767-8275-2AD212F59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EF45F-E0D7-4936-BAA7-B7DA0535F23A}" type="datetimeFigureOut">
              <a:rPr lang="en-GB" smtClean="0"/>
              <a:t>20/08/2026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E9DAFE-8157-D710-830B-0CED41B46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2C706E-6481-F4AA-7BC8-FF9057552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4137F-4D82-49A4-9519-9089124552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9723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EB253E-4A5F-5E52-A521-132314A87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EF45F-E0D7-4936-BAA7-B7DA0535F23A}" type="datetimeFigureOut">
              <a:rPr lang="en-GB" smtClean="0"/>
              <a:t>20/08/2026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371248-E5D0-9F07-C0AA-44E6A53E8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828C14-FE75-960D-1A17-924A26A21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4137F-4D82-49A4-9519-9089124552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49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2A4D1-BBDF-FC98-2659-CCC087722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97222-038A-2C05-54A7-6DD9E8A73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2C36AB-8CC4-3A1B-821F-F5D8BBD992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4B5C64-231B-88C7-45DC-0E668B639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EF45F-E0D7-4936-BAA7-B7DA0535F23A}" type="datetimeFigureOut">
              <a:rPr lang="en-GB" smtClean="0"/>
              <a:t>20/08/2026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90A7FD-35E1-2B82-7CE4-88FC6EC7E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CBA239-30DC-FEE4-4DFE-89EFB7954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4137F-4D82-49A4-9519-9089124552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5619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BDE49-8CBD-413E-0F05-AF984F20B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7D532D-9A8C-A7DA-170C-EFDAA6AAC4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830362-D0D1-9908-E148-02F3ECD013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72FCBF-37F1-895E-AB01-1979C74A5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EF45F-E0D7-4936-BAA7-B7DA0535F23A}" type="datetimeFigureOut">
              <a:rPr lang="en-GB" smtClean="0"/>
              <a:t>20/08/2026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8AD4F6-9CB3-C293-AB7A-5FEBEC02A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075E7E-8179-19A2-154A-C3134700C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4137F-4D82-49A4-9519-9089124552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5450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FC747-E9AF-E6A1-7D46-C8D45D22B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3613E8-F2A2-BF7A-574F-C6B5A87AD0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FC866F-B5CB-E8E7-7A79-B377CF5D6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EF45F-E0D7-4936-BAA7-B7DA0535F23A}" type="datetimeFigureOut">
              <a:rPr lang="en-GB" smtClean="0"/>
              <a:t>20/08/2026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3A548B-C870-0A81-FA60-6AB53A5FF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F99E08-9BC1-B7B1-D4A8-215ED5241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4137F-4D82-49A4-9519-9089124552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6059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839756-AB88-FB68-218F-62438C8BCD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573D31-BB95-8B5B-CF13-67E8D31782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4B8DC-23FF-FCBD-9CD5-2BD07D8D9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EF45F-E0D7-4936-BAA7-B7DA0535F23A}" type="datetimeFigureOut">
              <a:rPr lang="en-GB" smtClean="0"/>
              <a:t>20/08/2026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0B46C0-D8EB-2E3C-056F-EFE8C58B0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AC42D9-D37C-0631-BC1F-26A0CDEBE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4137F-4D82-49A4-9519-9089124552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9070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199BFF-F0A1-DADB-AA37-ED7B552EB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06557E-385A-AFB7-1CF3-223929304A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201E79-3E02-7308-D01D-077CCE6073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9EF45F-E0D7-4936-BAA7-B7DA0535F23A}" type="datetimeFigureOut">
              <a:rPr lang="en-GB" smtClean="0"/>
              <a:t>20/08/2026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19883E-D4ED-5BFE-02D2-2AC4E9D044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507FB9-EF67-EA3E-46D2-D9FFB65116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44137F-4D82-49A4-9519-9089124552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8141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/>
              <a:t>Cost Estimation </a:t>
            </a:r>
            <a:r>
              <a:rPr lang="en-US" sz="4000" b="1" dirty="0" err="1"/>
              <a:t>Methology</a:t>
            </a:r>
            <a:r>
              <a:rPr lang="en-US" sz="4000" b="1" dirty="0"/>
              <a:t> &amp; Budget </a:t>
            </a:r>
          </a:p>
        </p:txBody>
      </p:sp>
      <p:sp>
        <p:nvSpPr>
          <p:cNvPr id="3" name="Subtitle 2"/>
          <p:cNvSpPr>
            <a:spLocks noGrp="1"/>
          </p:cNvSpPr>
          <p:nvPr>
            <p:ph sz="half" idx="1"/>
          </p:nvPr>
        </p:nvSpPr>
        <p:spPr>
          <a:ln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2400" b="1">
              <a:solidFill>
                <a:srgbClr val="0D0D0D"/>
              </a:solidFill>
              <a:highlight>
                <a:srgbClr val="FCFCFC"/>
              </a:highlight>
            </a:endParaRPr>
          </a:p>
          <a:p>
            <a:endParaRPr lang="en-US" sz="2400" b="1">
              <a:solidFill>
                <a:srgbClr val="0D0D0D"/>
              </a:solidFill>
              <a:highlight>
                <a:srgbClr val="FCFCFC"/>
              </a:highlight>
            </a:endParaRPr>
          </a:p>
          <a:p>
            <a:endParaRPr lang="en-US" sz="2400" b="1">
              <a:solidFill>
                <a:srgbClr val="0D0D0D"/>
              </a:solidFill>
              <a:highlight>
                <a:srgbClr val="FCFCFC"/>
              </a:highlight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6CD02AC-6712-77B2-6543-7FD0A8D4667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 sz="2400" b="1">
              <a:solidFill>
                <a:srgbClr val="0D0D0D"/>
              </a:solidFill>
              <a:highlight>
                <a:srgbClr val="FFFFFF"/>
              </a:highlight>
            </a:endParaRPr>
          </a:p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BFF334-1C74-C3C8-EC62-86A23CAA8B8E}"/>
              </a:ext>
            </a:extLst>
          </p:cNvPr>
          <p:cNvSpPr txBox="1"/>
          <p:nvPr/>
        </p:nvSpPr>
        <p:spPr>
          <a:xfrm>
            <a:off x="7813343" y="1853820"/>
            <a:ext cx="1762835" cy="29456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F18A682-A81E-1C77-283E-91465D772927}"/>
                  </a:ext>
                </a:extLst>
              </p14:cNvPr>
              <p14:cNvContentPartPr/>
              <p14:nvPr/>
            </p14:nvContentPartPr>
            <p14:xfrm>
              <a:off x="8563969" y="2399730"/>
              <a:ext cx="11373" cy="11373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F18A682-A81E-1C77-283E-91465D77292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995319" y="1831080"/>
                <a:ext cx="1137300" cy="113730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A80205EC-7B45-704D-4B27-F5FC7CE178DA}"/>
              </a:ext>
            </a:extLst>
          </p:cNvPr>
          <p:cNvSpPr txBox="1"/>
          <p:nvPr/>
        </p:nvSpPr>
        <p:spPr>
          <a:xfrm>
            <a:off x="841612" y="1853820"/>
            <a:ext cx="5174775" cy="44935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Cost estimation was based on:</a:t>
            </a:r>
          </a:p>
          <a:p>
            <a:endParaRPr lang="en-US" sz="2400" b="1"/>
          </a:p>
          <a:p>
            <a:pPr marL="342900" indent="-342900">
              <a:buFont typeface="Wingdings"/>
              <a:buChar char="v"/>
            </a:pPr>
            <a:r>
              <a:rPr lang="en-US" sz="2000" b="1"/>
              <a:t>  Analogous estimating</a:t>
            </a:r>
          </a:p>
          <a:p>
            <a:pPr marL="342900" indent="-342900">
              <a:buFont typeface="Wingdings"/>
              <a:buChar char="v"/>
            </a:pPr>
            <a:endParaRPr lang="en-US" sz="2000" b="1"/>
          </a:p>
          <a:p>
            <a:pPr marL="171450" indent="-342900">
              <a:buFont typeface="Wingdings"/>
              <a:buChar char="v"/>
            </a:pPr>
            <a:r>
              <a:rPr lang="en-US" sz="2000" b="1"/>
              <a:t>Expert judgment</a:t>
            </a:r>
          </a:p>
          <a:p>
            <a:pPr marL="342900" indent="-342900">
              <a:buFont typeface="Wingdings"/>
              <a:buChar char="v"/>
            </a:pPr>
            <a:endParaRPr lang="en-US" sz="2000" b="1"/>
          </a:p>
          <a:p>
            <a:pPr marL="171450" indent="-342900">
              <a:buFont typeface="Wingdings"/>
              <a:buChar char="v"/>
            </a:pPr>
            <a:r>
              <a:rPr lang="en-US" sz="2000" b="1"/>
              <a:t> Bottom-up estimation based on the WBS</a:t>
            </a:r>
          </a:p>
          <a:p>
            <a:pPr marL="342900" indent="-342900">
              <a:buFont typeface="Wingdings"/>
              <a:buChar char="v"/>
            </a:pPr>
            <a:endParaRPr lang="en-US" sz="2000" b="1"/>
          </a:p>
          <a:p>
            <a:pPr marL="171450" indent="-342900">
              <a:buFont typeface="Wingdings"/>
              <a:buChar char="v"/>
            </a:pPr>
            <a:r>
              <a:rPr lang="en-US" sz="2000" b="1"/>
              <a:t>A 10% contingency reserve for unexpected costs and campaign adjustments</a:t>
            </a:r>
          </a:p>
          <a:p>
            <a:pPr marL="171450" indent="-342900">
              <a:buFont typeface="Wingdings"/>
              <a:buChar char="v"/>
            </a:pPr>
            <a:endParaRPr lang="en-US" sz="2000" b="1"/>
          </a:p>
          <a:p>
            <a:pPr indent="-285750">
              <a:buFont typeface="Wingdings"/>
              <a:buChar char="v"/>
            </a:pPr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A341970-D9CB-68FC-4BD7-0DE7E8A26689}"/>
              </a:ext>
            </a:extLst>
          </p:cNvPr>
          <p:cNvSpPr/>
          <p:nvPr/>
        </p:nvSpPr>
        <p:spPr>
          <a:xfrm>
            <a:off x="6732897" y="1853821"/>
            <a:ext cx="3923730" cy="3195850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/>
              <a:t>€2,805 Budget at</a:t>
            </a:r>
            <a:r>
              <a:rPr lang="en-US" sz="2400"/>
              <a:t> </a:t>
            </a:r>
            <a:r>
              <a:rPr lang="en-US" sz="2400" b="1"/>
              <a:t>Completion </a:t>
            </a:r>
            <a:endParaRPr lang="en-US" b="1"/>
          </a:p>
          <a:p>
            <a:pPr algn="ctr"/>
            <a:endParaRPr lang="en-US" sz="2400" b="1"/>
          </a:p>
          <a:p>
            <a:pPr marL="342900" indent="-342900">
              <a:buFont typeface="Arial"/>
              <a:buChar char="•"/>
            </a:pPr>
            <a:r>
              <a:rPr lang="en-US" sz="2000"/>
              <a:t>€2,550 Project Costs</a:t>
            </a:r>
            <a:endParaRPr lang="en-US"/>
          </a:p>
          <a:p>
            <a:pPr marL="342900" indent="-342900">
              <a:buFont typeface="Arial"/>
              <a:buChar char="•"/>
            </a:pPr>
            <a:r>
              <a:rPr lang="en-US" sz="2000"/>
              <a:t>€255 Contingency Reserve</a:t>
            </a:r>
            <a:endParaRPr lang="en-US"/>
          </a:p>
          <a:p>
            <a:pPr marL="285750" indent="-285750">
              <a:buFont typeface="Arial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77810-C421-4CCB-FBC5-3F13603E9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5"/>
            <a:ext cx="10515600" cy="1268697"/>
          </a:xfrm>
        </p:spPr>
        <p:txBody>
          <a:bodyPr>
            <a:normAutofit/>
          </a:bodyPr>
          <a:lstStyle/>
          <a:p>
            <a:pPr algn="ctr"/>
            <a:r>
              <a:rPr lang="en-US" sz="4000" b="1">
                <a:solidFill>
                  <a:srgbClr val="0D0D0D"/>
                </a:solidFill>
                <a:highlight>
                  <a:srgbClr val="FCFCFC"/>
                </a:highlight>
                <a:ea typeface="+mj-lt"/>
                <a:cs typeface="+mj-lt"/>
              </a:rPr>
              <a:t>Project Cost Baseline</a:t>
            </a:r>
            <a:endParaRPr lang="en-US" sz="4000"/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7637106E-9C4D-9273-E5C4-C2CD84851ED0}"/>
              </a:ext>
            </a:extLst>
          </p:cNvPr>
          <p:cNvGraphicFramePr>
            <a:graphicFrameLocks/>
          </p:cNvGraphicFramePr>
          <p:nvPr/>
        </p:nvGraphicFramePr>
        <p:xfrm>
          <a:off x="101247" y="754358"/>
          <a:ext cx="10170383" cy="61004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09D12950-1484-F3E0-FA9F-469E4470C0C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156520" y="2286000"/>
          <a:ext cx="1780965" cy="22746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0965">
                  <a:extLst>
                    <a:ext uri="{9D8B030D-6E8A-4147-A177-3AD203B41FA5}">
                      <a16:colId xmlns:a16="http://schemas.microsoft.com/office/drawing/2014/main" val="3812016875"/>
                    </a:ext>
                  </a:extLst>
                </a:gridCol>
              </a:tblGrid>
              <a:tr h="2274626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tx1"/>
                          </a:solidFill>
                        </a:rPr>
                        <a:t>SUBTOTAL </a:t>
                      </a:r>
                    </a:p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€2,550</a:t>
                      </a:r>
                    </a:p>
                    <a:p>
                      <a:pPr lvl="0" algn="l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CONTINGENGY</a:t>
                      </a:r>
                    </a:p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€255 (10%)</a:t>
                      </a:r>
                    </a:p>
                    <a:p>
                      <a:pPr lvl="0" algn="l">
                        <a:buNone/>
                      </a:pPr>
                      <a:r>
                        <a:rPr lang="en-US" sz="2800">
                          <a:solidFill>
                            <a:schemeClr val="tx1"/>
                          </a:solidFill>
                        </a:rPr>
                        <a:t>BAC</a:t>
                      </a:r>
                    </a:p>
                    <a:p>
                      <a:pPr lvl="0" algn="l">
                        <a:buNone/>
                      </a:pPr>
                      <a:r>
                        <a:rPr lang="en-US" sz="2400" b="1">
                          <a:solidFill>
                            <a:schemeClr val="tx1"/>
                          </a:solidFill>
                        </a:rPr>
                        <a:t>€2,805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54280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2845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5337-0435-685A-BBB0-CE0DE1B8D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en-US" b="1" dirty="0">
                <a:highlight>
                  <a:srgbClr val="FCFCFC"/>
                </a:highlight>
              </a:rPr>
            </a:br>
            <a:r>
              <a:rPr lang="en-US" b="1" dirty="0">
                <a:solidFill>
                  <a:srgbClr val="0D0D0D"/>
                </a:solidFill>
                <a:highlight>
                  <a:srgbClr val="FCFCFC"/>
                </a:highlight>
              </a:rPr>
              <a:t>Time-Phased Cost Baseline</a:t>
            </a:r>
            <a:br>
              <a:rPr lang="en-US" b="1" dirty="0">
                <a:highlight>
                  <a:srgbClr val="FCFCFC"/>
                </a:highlight>
              </a:rPr>
            </a:br>
            <a:r>
              <a:rPr lang="en-US" sz="2200" b="1" dirty="0">
                <a:solidFill>
                  <a:srgbClr val="0D0D0D"/>
                </a:solidFill>
                <a:highlight>
                  <a:srgbClr val="FCFCFC"/>
                </a:highlight>
                <a:ea typeface="+mj-lt"/>
                <a:cs typeface="+mj-lt"/>
              </a:rPr>
              <a:t>Planned project expenditure from April to October 2026</a:t>
            </a:r>
            <a:endParaRPr lang="en-US" sz="1800" dirty="0"/>
          </a:p>
          <a:p>
            <a:endParaRPr lang="en-US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81B12504-5D99-A65C-EC75-C4D4BFE5A6A4}"/>
              </a:ext>
            </a:extLst>
          </p:cNvPr>
          <p:cNvGraphicFramePr/>
          <p:nvPr/>
        </p:nvGraphicFramePr>
        <p:xfrm>
          <a:off x="739254" y="1560442"/>
          <a:ext cx="10611131" cy="42261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0BFB3F1-B5CC-FB81-2025-D70701DD5E28}"/>
              </a:ext>
            </a:extLst>
          </p:cNvPr>
          <p:cNvSpPr txBox="1"/>
          <p:nvPr/>
        </p:nvSpPr>
        <p:spPr>
          <a:xfrm>
            <a:off x="739254" y="5891285"/>
            <a:ext cx="10713491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solidFill>
                  <a:srgbClr val="0D0D0D"/>
                </a:solidFill>
                <a:highlight>
                  <a:srgbClr val="FCFCFC"/>
                </a:highlight>
                <a:ea typeface="+mn-lt"/>
                <a:cs typeface="+mn-lt"/>
              </a:rPr>
              <a:t>🟨</a:t>
            </a:r>
            <a:r>
              <a:rPr lang="en-US" dirty="0">
                <a:solidFill>
                  <a:srgbClr val="0D0D0D"/>
                </a:solidFill>
                <a:highlight>
                  <a:srgbClr val="FCFCFC"/>
                </a:highlight>
                <a:ea typeface="+mn-lt"/>
                <a:cs typeface="+mn-lt"/>
              </a:rPr>
              <a:t> </a:t>
            </a:r>
            <a:r>
              <a:rPr lang="en-US" b="1" dirty="0">
                <a:solidFill>
                  <a:srgbClr val="0D0D0D"/>
                </a:solidFill>
                <a:highlight>
                  <a:srgbClr val="FCFCFC"/>
                </a:highlight>
                <a:ea typeface="+mn-lt"/>
                <a:cs typeface="+mn-lt"/>
              </a:rPr>
              <a:t>Key Insight</a:t>
            </a:r>
            <a:br>
              <a:rPr lang="en-US" sz="1600" b="1" dirty="0">
                <a:highlight>
                  <a:srgbClr val="FCFCFC"/>
                </a:highlight>
                <a:ea typeface="+mn-lt"/>
                <a:cs typeface="+mn-lt"/>
              </a:rPr>
            </a:br>
            <a:r>
              <a:rPr lang="en-US" sz="1600" b="1" dirty="0">
                <a:highlight>
                  <a:srgbClr val="FCFCFC"/>
                </a:highlight>
                <a:ea typeface="+mn-lt"/>
                <a:cs typeface="+mn-lt"/>
              </a:rPr>
              <a:t> April and May account for the highest share of project expenditure, covering research, strategy, content creation and campaign preparation.</a:t>
            </a:r>
            <a:endParaRPr lang="en-US" sz="1600" b="1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073032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412D5-BD4A-F58B-1736-1BB572013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/>
              <a:t>Financial </a:t>
            </a:r>
            <a:r>
              <a:rPr lang="en-US" sz="4000" b="1"/>
              <a:t>Justification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65260-F0FF-8614-F0BA-53D0D3CB5C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49845"/>
            <a:ext cx="4983271" cy="3610214"/>
          </a:xfrm>
          <a:ln w="28575"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b="1"/>
              <a:t>Occupancy Improvement </a:t>
            </a:r>
          </a:p>
          <a:p>
            <a:pPr marL="0" indent="0">
              <a:buNone/>
            </a:pPr>
            <a:r>
              <a:rPr lang="en-US" sz="2400" b="1"/>
              <a:t>    45%</a:t>
            </a:r>
            <a:br>
              <a:rPr lang="en-US" sz="2400" b="1"/>
            </a:br>
            <a:r>
              <a:rPr lang="en-US" sz="2400" b="1"/>
              <a:t>Current Off-Season Occupancy</a:t>
            </a:r>
          </a:p>
          <a:p>
            <a:pPr marL="0" indent="0">
              <a:buNone/>
            </a:pPr>
            <a:r>
              <a:rPr lang="en-US" sz="2400"/>
              <a:t>   </a:t>
            </a:r>
            <a:r>
              <a:rPr lang="en-US" sz="2400" b="1"/>
              <a:t>   </a:t>
            </a:r>
          </a:p>
          <a:p>
            <a:pPr marL="0" indent="0">
              <a:buNone/>
            </a:pPr>
            <a:r>
              <a:rPr lang="en-US" sz="2400"/>
              <a:t>    </a:t>
            </a:r>
          </a:p>
          <a:p>
            <a:pPr marL="0" indent="0">
              <a:buNone/>
            </a:pPr>
            <a:r>
              <a:rPr lang="en-US" sz="2400" b="1"/>
              <a:t>    65%</a:t>
            </a:r>
            <a:br>
              <a:rPr lang="en-US" sz="2400" b="1"/>
            </a:br>
            <a:r>
              <a:rPr lang="en-US" sz="2400" b="1"/>
              <a:t>Target Off-Season Occupancy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sz="2000">
                <a:solidFill>
                  <a:srgbClr val="FF0000"/>
                </a:solidFill>
              </a:rPr>
              <a:t>   </a:t>
            </a:r>
            <a:r>
              <a:rPr lang="en-US" b="1">
                <a:solidFill>
                  <a:srgbClr val="FF0000"/>
                </a:solidFill>
              </a:rPr>
              <a:t> €4,800</a:t>
            </a:r>
            <a:endParaRPr lang="en-US"/>
          </a:p>
          <a:p>
            <a:pPr marL="0" indent="0">
              <a:buNone/>
            </a:pPr>
            <a:r>
              <a:rPr lang="en-US" sz="2400" b="1"/>
              <a:t>Expected Additional Annual Income</a:t>
            </a:r>
          </a:p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3931D1-14CB-D878-ECF5-8C7BBF3B43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9132" y="1449845"/>
            <a:ext cx="5072698" cy="3612552"/>
          </a:xfrm>
          <a:ln w="28575"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b="1"/>
              <a:t>Financial Return</a:t>
            </a:r>
            <a:endParaRPr lang="en-US" sz="2400"/>
          </a:p>
          <a:p>
            <a:endParaRPr lang="en-US" b="1">
              <a:solidFill>
                <a:srgbClr val="000000"/>
              </a:solidFill>
              <a:ea typeface="+mn-lt"/>
              <a:cs typeface="+mn-lt"/>
            </a:endParaRPr>
          </a:p>
          <a:p>
            <a:pPr algn="ctr"/>
            <a:r>
              <a:rPr lang="en-US" sz="2400" b="1">
                <a:solidFill>
                  <a:srgbClr val="0D0D0D"/>
                </a:solidFill>
                <a:highlight>
                  <a:srgbClr val="FCFCFC"/>
                </a:highlight>
                <a:ea typeface="+mn-lt"/>
                <a:cs typeface="+mn-lt"/>
              </a:rPr>
              <a:t>€2,805</a:t>
            </a:r>
            <a:br>
              <a:rPr lang="en-US" sz="2400" b="1">
                <a:highlight>
                  <a:srgbClr val="FCFCFC"/>
                </a:highlight>
                <a:ea typeface="+mn-lt"/>
                <a:cs typeface="+mn-lt"/>
              </a:rPr>
            </a:br>
            <a:r>
              <a:rPr lang="en-US" sz="2400" b="1">
                <a:solidFill>
                  <a:srgbClr val="0D0D0D"/>
                </a:solidFill>
                <a:highlight>
                  <a:srgbClr val="FCFCFC"/>
                </a:highlight>
                <a:ea typeface="+mn-lt"/>
                <a:cs typeface="+mn-lt"/>
              </a:rPr>
              <a:t>Project Investment (BAC)</a:t>
            </a:r>
            <a:endParaRPr lang="en-US" sz="2400"/>
          </a:p>
          <a:p>
            <a:pPr algn="ctr"/>
            <a:endParaRPr lang="en-US" sz="2400" b="1">
              <a:solidFill>
                <a:srgbClr val="0D0D0D"/>
              </a:solidFill>
              <a:highlight>
                <a:srgbClr val="FCFCFC"/>
              </a:highlight>
              <a:ea typeface="+mn-lt"/>
              <a:cs typeface="+mn-lt"/>
            </a:endParaRPr>
          </a:p>
          <a:p>
            <a:pPr algn="ctr"/>
            <a:r>
              <a:rPr lang="en-US" sz="2400" b="1">
                <a:solidFill>
                  <a:srgbClr val="0D0D0D"/>
                </a:solidFill>
                <a:highlight>
                  <a:srgbClr val="FCFCFC"/>
                </a:highlight>
                <a:ea typeface="+mn-lt"/>
                <a:cs typeface="+mn-lt"/>
              </a:rPr>
              <a:t>€1,995</a:t>
            </a:r>
            <a:br>
              <a:rPr lang="en-US" sz="2400" b="1">
                <a:highlight>
                  <a:srgbClr val="FCFCFC"/>
                </a:highlight>
                <a:ea typeface="+mn-lt"/>
                <a:cs typeface="+mn-lt"/>
              </a:rPr>
            </a:br>
            <a:r>
              <a:rPr lang="en-US" sz="2400" b="1">
                <a:solidFill>
                  <a:srgbClr val="0D0D0D"/>
                </a:solidFill>
                <a:highlight>
                  <a:srgbClr val="FCFCFC"/>
                </a:highlight>
                <a:ea typeface="+mn-lt"/>
                <a:cs typeface="+mn-lt"/>
              </a:rPr>
              <a:t>Expected Net Benefit</a:t>
            </a:r>
            <a:endParaRPr lang="en-US" sz="2400"/>
          </a:p>
          <a:p>
            <a:pPr algn="ctr"/>
            <a:endParaRPr lang="en-US" sz="2400" b="1">
              <a:solidFill>
                <a:srgbClr val="0D0D0D"/>
              </a:solidFill>
              <a:highlight>
                <a:srgbClr val="FCFCFC"/>
              </a:highlight>
              <a:ea typeface="+mn-lt"/>
              <a:cs typeface="+mn-lt"/>
            </a:endParaRPr>
          </a:p>
          <a:p>
            <a:pPr algn="ctr"/>
            <a:r>
              <a:rPr lang="en-US" sz="2400" b="1">
                <a:solidFill>
                  <a:srgbClr val="0D0D0D"/>
                </a:solidFill>
                <a:highlight>
                  <a:srgbClr val="FCFCFC"/>
                </a:highlight>
                <a:ea typeface="+mn-lt"/>
                <a:cs typeface="+mn-lt"/>
              </a:rPr>
              <a:t>71%</a:t>
            </a:r>
            <a:br>
              <a:rPr lang="en-US" sz="2400" b="1">
                <a:highlight>
                  <a:srgbClr val="FCFCFC"/>
                </a:highlight>
                <a:ea typeface="+mn-lt"/>
                <a:cs typeface="+mn-lt"/>
              </a:rPr>
            </a:br>
            <a:r>
              <a:rPr lang="en-US" sz="2400" b="1">
                <a:solidFill>
                  <a:srgbClr val="0D0D0D"/>
                </a:solidFill>
                <a:highlight>
                  <a:srgbClr val="FCFCFC"/>
                </a:highlight>
                <a:ea typeface="+mn-lt"/>
                <a:cs typeface="+mn-lt"/>
              </a:rPr>
              <a:t>Return on Investment (ROI)</a:t>
            </a:r>
            <a:endParaRPr lang="en-US" sz="2400"/>
          </a:p>
          <a:p>
            <a:pPr algn="ctr"/>
            <a:endParaRPr lang="en-US" sz="2400"/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8022E479-24D1-9A12-AB04-8241A6B738A3}"/>
              </a:ext>
            </a:extLst>
          </p:cNvPr>
          <p:cNvSpPr/>
          <p:nvPr/>
        </p:nvSpPr>
        <p:spPr>
          <a:xfrm>
            <a:off x="1180780" y="2556307"/>
            <a:ext cx="397280" cy="543261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14EAC1-45E0-841E-5FAF-A8A127940C20}"/>
              </a:ext>
            </a:extLst>
          </p:cNvPr>
          <p:cNvSpPr txBox="1"/>
          <p:nvPr/>
        </p:nvSpPr>
        <p:spPr>
          <a:xfrm>
            <a:off x="3461637" y="5332442"/>
            <a:ext cx="4992806" cy="1111337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D6AA27"/>
                </a:solidFill>
                <a:highlight>
                  <a:srgbClr val="FCFCFC"/>
                </a:highlight>
                <a:ea typeface="+mn-lt"/>
                <a:cs typeface="+mn-lt"/>
              </a:rPr>
              <a:t>Positive Financial Outlook</a:t>
            </a:r>
            <a:br>
              <a:rPr lang="en-US" sz="2400" b="1">
                <a:highlight>
                  <a:srgbClr val="FCFCFC"/>
                </a:highlight>
                <a:ea typeface="+mn-lt"/>
                <a:cs typeface="+mn-lt"/>
              </a:rPr>
            </a:br>
            <a:r>
              <a:rPr lang="en-US" sz="2000" b="1">
                <a:solidFill>
                  <a:srgbClr val="0D0D0D"/>
                </a:solidFill>
                <a:highlight>
                  <a:srgbClr val="FCFCFC"/>
                </a:highlight>
                <a:ea typeface="+mn-lt"/>
                <a:cs typeface="+mn-lt"/>
              </a:rPr>
              <a:t>The expected annual benefit exceeds the total project investment.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4160993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D613F-E02B-BDD0-B828-6CFBDA9C0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/>
              <a:t>Risk Management Plan </a:t>
            </a:r>
            <a:br>
              <a:rPr lang="en-US"/>
            </a:br>
            <a:r>
              <a:rPr lang="en-US" sz="2400" b="1"/>
              <a:t>Managing Uncertainty through an Agile approach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0B0BE-1D4E-8EBF-27CB-6D954F7AE8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066" y="1507178"/>
            <a:ext cx="11789390" cy="5158829"/>
          </a:xfrm>
          <a:ln w="28575"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solidFill>
                  <a:srgbClr val="0D0D0D"/>
                </a:solidFill>
              </a:rPr>
              <a:t>OBJECTIVE</a:t>
            </a:r>
            <a:endParaRPr lang="en-US"/>
          </a:p>
          <a:p>
            <a:pPr marL="0" indent="0">
              <a:buNone/>
            </a:pPr>
            <a:r>
              <a:rPr lang="en-US" sz="2400">
                <a:solidFill>
                  <a:srgbClr val="0D0D0D"/>
                </a:solidFill>
              </a:rPr>
              <a:t>Manage uncertainties affecting the achievement of the 65% off-season occupancy target.</a:t>
            </a:r>
          </a:p>
          <a:p>
            <a:pPr marL="0" indent="0">
              <a:buNone/>
            </a:pPr>
            <a:endParaRPr lang="en-US" sz="2400" b="1">
              <a:solidFill>
                <a:srgbClr val="0D0D0D"/>
              </a:solidFill>
            </a:endParaRPr>
          </a:p>
          <a:p>
            <a:pPr marL="0" indent="0">
              <a:buNone/>
            </a:pPr>
            <a:r>
              <a:rPr lang="en-US" sz="2400" b="1">
                <a:solidFill>
                  <a:srgbClr val="0D0D0D"/>
                </a:solidFill>
              </a:rPr>
              <a:t>          IDENTIFY              ASSESS            MITIGATE            MONITOR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dirty="0"/>
              <a:t>   </a:t>
            </a:r>
          </a:p>
          <a:p>
            <a:pPr marL="0" indent="0">
              <a:buNone/>
            </a:pPr>
            <a:r>
              <a:rPr lang="en-US" sz="2000" b="1"/>
              <a:t>      KEY INPUTS</a:t>
            </a:r>
            <a:endParaRPr lang="en-US"/>
          </a:p>
          <a:p>
            <a:pPr marL="0" indent="0">
              <a:buNone/>
            </a:pPr>
            <a:r>
              <a:rPr lang="en-US" sz="2000"/>
              <a:t>Historical data , Platforms Analytics, Competitor Research, Stakeholder Feedback</a:t>
            </a:r>
          </a:p>
          <a:p>
            <a:pPr marL="0" indent="0" algn="ctr">
              <a:buNone/>
            </a:pPr>
            <a:endParaRPr lang="en-US"/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0D925576-249C-D7A7-1903-80BD3161CBC1}"/>
              </a:ext>
            </a:extLst>
          </p:cNvPr>
          <p:cNvSpPr/>
          <p:nvPr/>
        </p:nvSpPr>
        <p:spPr>
          <a:xfrm>
            <a:off x="1387522" y="4139820"/>
            <a:ext cx="136477" cy="136477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Minus Sign 6">
            <a:extLst>
              <a:ext uri="{FF2B5EF4-FFF2-40B4-BE49-F238E27FC236}">
                <a16:creationId xmlns:a16="http://schemas.microsoft.com/office/drawing/2014/main" id="{A164F302-88CD-0648-F982-3687281BFE53}"/>
              </a:ext>
            </a:extLst>
          </p:cNvPr>
          <p:cNvSpPr/>
          <p:nvPr/>
        </p:nvSpPr>
        <p:spPr>
          <a:xfrm>
            <a:off x="1705970" y="4105701"/>
            <a:ext cx="1637731" cy="204716"/>
          </a:xfrm>
          <a:prstGeom prst="mathMin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55E65E3C-033E-08FF-E73D-74F159D293C4}"/>
              </a:ext>
            </a:extLst>
          </p:cNvPr>
          <p:cNvSpPr/>
          <p:nvPr/>
        </p:nvSpPr>
        <p:spPr>
          <a:xfrm>
            <a:off x="3502925" y="4105701"/>
            <a:ext cx="147850" cy="125104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Minus Sign 9">
            <a:extLst>
              <a:ext uri="{FF2B5EF4-FFF2-40B4-BE49-F238E27FC236}">
                <a16:creationId xmlns:a16="http://schemas.microsoft.com/office/drawing/2014/main" id="{D5FDB883-C903-1D2E-4505-04CC1735C89C}"/>
              </a:ext>
            </a:extLst>
          </p:cNvPr>
          <p:cNvSpPr/>
          <p:nvPr/>
        </p:nvSpPr>
        <p:spPr>
          <a:xfrm>
            <a:off x="3650776" y="4105701"/>
            <a:ext cx="1751462" cy="204716"/>
          </a:xfrm>
          <a:prstGeom prst="mathMin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76854F05-FAC5-1E16-8A11-422AFE699EC6}"/>
              </a:ext>
            </a:extLst>
          </p:cNvPr>
          <p:cNvSpPr/>
          <p:nvPr/>
        </p:nvSpPr>
        <p:spPr>
          <a:xfrm>
            <a:off x="5402239" y="4139820"/>
            <a:ext cx="147850" cy="136477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Minus Sign 11">
            <a:extLst>
              <a:ext uri="{FF2B5EF4-FFF2-40B4-BE49-F238E27FC236}">
                <a16:creationId xmlns:a16="http://schemas.microsoft.com/office/drawing/2014/main" id="{E1F68A20-F2A3-1227-F6DB-F124FF60BB34}"/>
              </a:ext>
            </a:extLst>
          </p:cNvPr>
          <p:cNvSpPr/>
          <p:nvPr/>
        </p:nvSpPr>
        <p:spPr>
          <a:xfrm>
            <a:off x="5550088" y="4105702"/>
            <a:ext cx="1876567" cy="227462"/>
          </a:xfrm>
          <a:prstGeom prst="mathMin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8F5AD91A-1511-66A5-C658-79762884C6FF}"/>
              </a:ext>
            </a:extLst>
          </p:cNvPr>
          <p:cNvSpPr/>
          <p:nvPr/>
        </p:nvSpPr>
        <p:spPr>
          <a:xfrm>
            <a:off x="7426656" y="4139820"/>
            <a:ext cx="136477" cy="136477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lowchart: Process 13">
            <a:extLst>
              <a:ext uri="{FF2B5EF4-FFF2-40B4-BE49-F238E27FC236}">
                <a16:creationId xmlns:a16="http://schemas.microsoft.com/office/drawing/2014/main" id="{0A2D4B52-9305-3A61-2A95-8E4DAFAEEB2A}"/>
              </a:ext>
            </a:extLst>
          </p:cNvPr>
          <p:cNvSpPr/>
          <p:nvPr/>
        </p:nvSpPr>
        <p:spPr>
          <a:xfrm>
            <a:off x="272955" y="4799464"/>
            <a:ext cx="181970" cy="216089"/>
          </a:xfrm>
          <a:prstGeom prst="flowChartProcess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4DE5DF4-615F-FF94-D72B-8278DE35618A}"/>
              </a:ext>
            </a:extLst>
          </p:cNvPr>
          <p:cNvSpPr txBox="1"/>
          <p:nvPr/>
        </p:nvSpPr>
        <p:spPr>
          <a:xfrm>
            <a:off x="4264926" y="5595581"/>
            <a:ext cx="3161730" cy="92333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/>
              <a:t>€255</a:t>
            </a:r>
          </a:p>
          <a:p>
            <a:r>
              <a:rPr lang="en-US" b="1"/>
              <a:t>CONTINGENCY RESERVE</a:t>
            </a:r>
          </a:p>
          <a:p>
            <a:r>
              <a:rPr lang="en-US" b="1"/>
              <a:t>10% OF TOTAL BUDGET </a:t>
            </a:r>
          </a:p>
        </p:txBody>
      </p:sp>
    </p:spTree>
    <p:extLst>
      <p:ext uri="{BB962C8B-B14F-4D97-AF65-F5344CB8AC3E}">
        <p14:creationId xmlns:p14="http://schemas.microsoft.com/office/powerpoint/2010/main" val="3373709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4002D-6D37-D9BE-BEDD-949328E27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/>
              <a:t>Key Project Risks</a:t>
            </a:r>
            <a:br>
              <a:rPr lang="en-US" sz="4000" b="1"/>
            </a:br>
            <a:endParaRPr lang="en-US" sz="2800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7F6EC-C494-97B7-C428-8DC733F9C6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051" y="1200104"/>
            <a:ext cx="11664285" cy="5500023"/>
          </a:xfrm>
          <a:ln w="28575"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 lnSpcReduction="10000"/>
          </a:bodyPr>
          <a:lstStyle/>
          <a:p>
            <a:pPr lvl="0" fontAlgn="base"/>
            <a:r>
              <a:rPr lang="en-US" b="1" dirty="0"/>
              <a:t>Five Key Risk Categories </a:t>
            </a:r>
            <a:r>
              <a:rPr lang="en-US" dirty="0"/>
              <a:t>​</a:t>
            </a:r>
          </a:p>
          <a:p>
            <a:pPr marL="457200" indent="-457200"/>
            <a:endParaRPr lang="en-US" dirty="0"/>
          </a:p>
          <a:p>
            <a:pPr marL="457200" indent="-457200"/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457200" indent="-457200"/>
            <a:endParaRPr lang="en-US" b="1" dirty="0"/>
          </a:p>
          <a:p>
            <a:pPr marL="457200" indent="-457200"/>
            <a:r>
              <a:rPr lang="en-US" b="1" dirty="0"/>
              <a:t>Responsibilities </a:t>
            </a:r>
            <a:endParaRPr lang="en-US" dirty="0"/>
          </a:p>
          <a:p>
            <a:pPr marL="0" indent="0">
              <a:buNone/>
            </a:pPr>
            <a:r>
              <a:rPr lang="en-US" sz="2000" b="1" dirty="0">
                <a:solidFill>
                  <a:srgbClr val="0D0D0D"/>
                </a:solidFill>
                <a:highlight>
                  <a:srgbClr val="FCFCFC"/>
                </a:highlight>
                <a:ea typeface="+mn-lt"/>
                <a:cs typeface="+mn-lt"/>
              </a:rPr>
              <a:t>Risk Identification — Product Owner • Risk Assessment — Digital Marketing Specialist • Agile Monitoring — All Team Members</a:t>
            </a:r>
            <a:endParaRPr lang="en-US" sz="2000" b="1" dirty="0"/>
          </a:p>
          <a:p>
            <a:pPr marL="0" indent="0">
              <a:buNone/>
            </a:pPr>
            <a:endParaRPr lang="en-US" sz="2400" dirty="0"/>
          </a:p>
          <a:p>
            <a:pPr marL="342900" indent="-342900"/>
            <a:r>
              <a:rPr lang="en-US" sz="2400" b="1" i="1" dirty="0"/>
              <a:t>Continuous monitoring throughout every 2-week sprint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BF8E69-028D-4763-C8D9-2A68B224808C}"/>
              </a:ext>
            </a:extLst>
          </p:cNvPr>
          <p:cNvSpPr txBox="1"/>
          <p:nvPr/>
        </p:nvSpPr>
        <p:spPr>
          <a:xfrm>
            <a:off x="511790" y="2195014"/>
            <a:ext cx="1740091" cy="1754326"/>
          </a:xfrm>
          <a:prstGeom prst="rect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/>
              <a:t>PLATFORM</a:t>
            </a:r>
          </a:p>
          <a:p>
            <a:pPr algn="ctr"/>
            <a:endParaRPr lang="en-US" b="1"/>
          </a:p>
          <a:p>
            <a:pPr algn="ctr"/>
            <a:r>
              <a:rPr lang="en-US" b="1"/>
              <a:t>Algorithm &amp; availability</a:t>
            </a:r>
          </a:p>
          <a:p>
            <a:pPr algn="ctr"/>
            <a:r>
              <a:rPr lang="en-US" b="1"/>
              <a:t>Changes </a:t>
            </a:r>
          </a:p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F1D3EC-3F78-271D-136B-1056A5F32492}"/>
              </a:ext>
            </a:extLst>
          </p:cNvPr>
          <p:cNvSpPr txBox="1"/>
          <p:nvPr/>
        </p:nvSpPr>
        <p:spPr>
          <a:xfrm>
            <a:off x="2866029" y="2195015"/>
            <a:ext cx="1876566" cy="1754326"/>
          </a:xfrm>
          <a:prstGeom prst="rect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/>
              <a:t>CONTENT</a:t>
            </a:r>
          </a:p>
          <a:p>
            <a:pPr algn="ctr"/>
            <a:endParaRPr lang="en-US" b="1"/>
          </a:p>
          <a:p>
            <a:pPr algn="ctr"/>
            <a:r>
              <a:rPr lang="en-US" b="1"/>
              <a:t>Low engagement &amp; conversion</a:t>
            </a:r>
          </a:p>
          <a:p>
            <a:endParaRPr lang="en-US" b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71AF3B-050D-DAED-7930-89E8A269B941}"/>
              </a:ext>
            </a:extLst>
          </p:cNvPr>
          <p:cNvSpPr txBox="1"/>
          <p:nvPr/>
        </p:nvSpPr>
        <p:spPr>
          <a:xfrm>
            <a:off x="5197521" y="2195014"/>
            <a:ext cx="1705969" cy="1754326"/>
          </a:xfrm>
          <a:prstGeom prst="rect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/>
              <a:t>FINANCIAL</a:t>
            </a:r>
          </a:p>
          <a:p>
            <a:pPr algn="ctr"/>
            <a:endParaRPr lang="en-US" b="1"/>
          </a:p>
          <a:p>
            <a:pPr algn="ctr"/>
            <a:r>
              <a:rPr lang="en-US" b="1"/>
              <a:t>Campaign costs may exceed budget</a:t>
            </a:r>
          </a:p>
          <a:p>
            <a:endParaRPr lang="en-US" b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FA938E-B722-373D-7F3F-23982CE28069}"/>
              </a:ext>
            </a:extLst>
          </p:cNvPr>
          <p:cNvSpPr txBox="1"/>
          <p:nvPr/>
        </p:nvSpPr>
        <p:spPr>
          <a:xfrm>
            <a:off x="7347044" y="2195014"/>
            <a:ext cx="1796955" cy="1754326"/>
          </a:xfrm>
          <a:prstGeom prst="rect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/>
              <a:t>ADOPTION</a:t>
            </a:r>
          </a:p>
          <a:p>
            <a:pPr algn="ctr"/>
            <a:endParaRPr lang="en-US" b="1"/>
          </a:p>
          <a:p>
            <a:pPr algn="ctr"/>
            <a:r>
              <a:rPr lang="en-US" b="1"/>
              <a:t>Delayed approvals </a:t>
            </a:r>
          </a:p>
          <a:p>
            <a:endParaRPr lang="en-US" b="1"/>
          </a:p>
          <a:p>
            <a:endParaRPr lang="en-US" b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B6B69A-D065-1C18-C38E-9CBDD72E3957}"/>
              </a:ext>
            </a:extLst>
          </p:cNvPr>
          <p:cNvSpPr txBox="1"/>
          <p:nvPr/>
        </p:nvSpPr>
        <p:spPr>
          <a:xfrm>
            <a:off x="9530687" y="2195014"/>
            <a:ext cx="1819700" cy="1754326"/>
          </a:xfrm>
          <a:prstGeom prst="rect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/>
              <a:t>PERFORMANCE</a:t>
            </a:r>
          </a:p>
          <a:p>
            <a:pPr algn="ctr"/>
            <a:endParaRPr lang="en-US" b="1"/>
          </a:p>
          <a:p>
            <a:pPr algn="ctr"/>
            <a:r>
              <a:rPr lang="en-US" b="1"/>
              <a:t>Occupancy below 65%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1928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BAFF4-7455-9108-D250-D3F10DEBB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433" y="125043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br>
              <a:rPr lang="en-US" sz="4000" b="1" dirty="0"/>
            </a:br>
            <a:r>
              <a:rPr lang="en-US" sz="4000" b="1"/>
              <a:t>Probability &amp; Impact Matrix</a:t>
            </a:r>
            <a:br>
              <a:rPr lang="en-US" sz="4000" b="1" dirty="0"/>
            </a:br>
            <a:r>
              <a:rPr lang="en-US" sz="2700" b="1"/>
              <a:t>Risk Response Framework</a:t>
            </a:r>
            <a:br>
              <a:rPr lang="en-US" sz="4000" b="1" dirty="0"/>
            </a:br>
            <a:endParaRPr lang="en-US" sz="3200" b="1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BBBD1A4-7184-E80C-F6CA-9C5C534653D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60958" y="1336109"/>
          <a:ext cx="11505096" cy="3686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6274">
                  <a:extLst>
                    <a:ext uri="{9D8B030D-6E8A-4147-A177-3AD203B41FA5}">
                      <a16:colId xmlns:a16="http://schemas.microsoft.com/office/drawing/2014/main" val="3267356403"/>
                    </a:ext>
                  </a:extLst>
                </a:gridCol>
                <a:gridCol w="2876274">
                  <a:extLst>
                    <a:ext uri="{9D8B030D-6E8A-4147-A177-3AD203B41FA5}">
                      <a16:colId xmlns:a16="http://schemas.microsoft.com/office/drawing/2014/main" val="2890632509"/>
                    </a:ext>
                  </a:extLst>
                </a:gridCol>
                <a:gridCol w="2876274">
                  <a:extLst>
                    <a:ext uri="{9D8B030D-6E8A-4147-A177-3AD203B41FA5}">
                      <a16:colId xmlns:a16="http://schemas.microsoft.com/office/drawing/2014/main" val="1064533917"/>
                    </a:ext>
                  </a:extLst>
                </a:gridCol>
                <a:gridCol w="2876274">
                  <a:extLst>
                    <a:ext uri="{9D8B030D-6E8A-4147-A177-3AD203B41FA5}">
                      <a16:colId xmlns:a16="http://schemas.microsoft.com/office/drawing/2014/main" val="1359227176"/>
                    </a:ext>
                  </a:extLst>
                </a:gridCol>
              </a:tblGrid>
              <a:tr h="822204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Probability     / Impact 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tx1"/>
                          </a:solidFill>
                        </a:rPr>
                        <a:t>                  LOW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MEDIUM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tx1"/>
                          </a:solidFill>
                        </a:rPr>
                        <a:t>             HIGH     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119139"/>
                  </a:ext>
                </a:extLst>
              </a:tr>
              <a:tr h="822204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HIGH 81-100%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Monitoring 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 Mitigation 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  <a:p>
                      <a:pPr lvl="0" algn="ctr">
                        <a:buNone/>
                      </a:pPr>
                      <a:r>
                        <a:rPr lang="en-US" b="1"/>
                        <a:t>Avoid / Redesign</a:t>
                      </a:r>
                      <a:endParaRPr lang="en-US" b="1" dirty="0"/>
                    </a:p>
                    <a:p>
                      <a:pPr lvl="0" algn="ctr">
                        <a:buNone/>
                      </a:pPr>
                      <a:r>
                        <a:rPr lang="en-US" sz="1600" b="1" i="1" u="none" strike="noStrike" noProof="0">
                          <a:latin typeface="Aptos"/>
                        </a:rPr>
                        <a:t>Performance Risk</a:t>
                      </a:r>
                      <a:endParaRPr lang="en-US" sz="1600" b="1" i="1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2277886"/>
                  </a:ext>
                </a:extLst>
              </a:tr>
              <a:tr h="822204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MEDIUM 41-80%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Monitoring 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  <a:p>
                      <a:pPr lvl="0" algn="ctr">
                        <a:buNone/>
                      </a:pPr>
                      <a:r>
                        <a:rPr lang="en-US" b="1"/>
                        <a:t>    Mitigation 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latin typeface="Aptos"/>
                        </a:rPr>
                        <a:t>     </a:t>
                      </a:r>
                      <a:r>
                        <a:rPr lang="en-US" sz="1600" b="0" i="1" u="none" strike="noStrike" noProof="0">
                          <a:latin typeface="Aptos"/>
                        </a:rPr>
                        <a:t>Content Risk</a:t>
                      </a:r>
                      <a:endParaRPr lang="en-US" sz="1600" i="1"/>
                    </a:p>
                    <a:p>
                      <a:pPr lvl="0" algn="ctr">
                        <a:buNone/>
                      </a:pPr>
                      <a:r>
                        <a:rPr lang="en-US" sz="1600" b="0" i="1" u="none" strike="noStrike" noProof="0" dirty="0">
                          <a:latin typeface="Aptos"/>
                        </a:rPr>
                        <a:t>       </a:t>
                      </a:r>
                      <a:r>
                        <a:rPr lang="en-US" sz="1600" b="0" i="1" u="none" strike="noStrike" noProof="0" dirty="0" err="1">
                          <a:latin typeface="Aptos"/>
                        </a:rPr>
                        <a:t>Αdoption</a:t>
                      </a:r>
                      <a:r>
                        <a:rPr lang="en-US" sz="1600" b="0" i="1" u="none" strike="noStrike" noProof="0" dirty="0">
                          <a:latin typeface="Aptos"/>
                        </a:rPr>
                        <a:t> Risk</a:t>
                      </a:r>
                      <a:endParaRPr lang="en-US" sz="1600" i="1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  <a:p>
                      <a:pPr lvl="0" algn="ctr">
                        <a:buNone/>
                      </a:pPr>
                      <a:r>
                        <a:rPr lang="en-US" b="1" dirty="0"/>
                        <a:t> </a:t>
                      </a:r>
                      <a:r>
                        <a:rPr lang="en-US" b="1"/>
                        <a:t>Transfer / Plan B</a:t>
                      </a:r>
                      <a:endParaRPr lang="en-US" b="1" dirty="0"/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>
                          <a:latin typeface="Aptos"/>
                        </a:rPr>
                        <a:t>Platform Risk</a:t>
                      </a:r>
                      <a:endParaRPr lang="en-US" sz="1600"/>
                    </a:p>
                    <a:p>
                      <a:pPr lvl="0" algn="ctr">
                        <a:buNone/>
                      </a:pPr>
                      <a:r>
                        <a:rPr lang="en-US" sz="1600" b="0" i="0" u="none" strike="noStrike" noProof="0">
                          <a:latin typeface="Aptos"/>
                        </a:rPr>
                        <a:t>Financial Risk</a:t>
                      </a:r>
                      <a:endParaRPr lang="en-US" sz="160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1295661"/>
                  </a:ext>
                </a:extLst>
              </a:tr>
              <a:tr h="822204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LOW  0-40%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  Acceptance 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       Acceptance</a:t>
                      </a:r>
                      <a:r>
                        <a:rPr lang="en-US" b="1" dirty="0"/>
                        <a:t> 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   Active Monitoring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5718200"/>
                  </a:ext>
                </a:extLst>
              </a:tr>
            </a:tbl>
          </a:graphicData>
        </a:graphic>
      </p:graphicFrame>
      <p:sp>
        <p:nvSpPr>
          <p:cNvPr id="5" name="Arrow: Down 4">
            <a:extLst>
              <a:ext uri="{FF2B5EF4-FFF2-40B4-BE49-F238E27FC236}">
                <a16:creationId xmlns:a16="http://schemas.microsoft.com/office/drawing/2014/main" id="{D5BDC015-A701-9AF7-52FD-9B2420413D40}"/>
              </a:ext>
            </a:extLst>
          </p:cNvPr>
          <p:cNvSpPr/>
          <p:nvPr/>
        </p:nvSpPr>
        <p:spPr>
          <a:xfrm>
            <a:off x="1767821" y="1651284"/>
            <a:ext cx="68238" cy="21608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AE0C7E7F-1C97-ED17-1C57-8C23EFFE8C3F}"/>
              </a:ext>
            </a:extLst>
          </p:cNvPr>
          <p:cNvSpPr/>
          <p:nvPr/>
        </p:nvSpPr>
        <p:spPr>
          <a:xfrm>
            <a:off x="2831910" y="1751462"/>
            <a:ext cx="204716" cy="7961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27C94A-5824-4B68-EEF9-275FE193891B}"/>
              </a:ext>
            </a:extLst>
          </p:cNvPr>
          <p:cNvSpPr/>
          <p:nvPr/>
        </p:nvSpPr>
        <p:spPr>
          <a:xfrm>
            <a:off x="3672276" y="1637731"/>
            <a:ext cx="238835" cy="22746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0F0C715-E972-5CA9-DA8F-D5D3C7C7750E}"/>
              </a:ext>
            </a:extLst>
          </p:cNvPr>
          <p:cNvSpPr/>
          <p:nvPr/>
        </p:nvSpPr>
        <p:spPr>
          <a:xfrm>
            <a:off x="6615891" y="1637730"/>
            <a:ext cx="238835" cy="22746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CC02275-254B-E5BF-4C81-7E2C0F20AA07}"/>
              </a:ext>
            </a:extLst>
          </p:cNvPr>
          <p:cNvSpPr/>
          <p:nvPr/>
        </p:nvSpPr>
        <p:spPr>
          <a:xfrm>
            <a:off x="9162849" y="1637729"/>
            <a:ext cx="238835" cy="22746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391494-D585-22DA-F495-EAF2261EAB96}"/>
              </a:ext>
            </a:extLst>
          </p:cNvPr>
          <p:cNvSpPr/>
          <p:nvPr/>
        </p:nvSpPr>
        <p:spPr>
          <a:xfrm>
            <a:off x="3672275" y="2441483"/>
            <a:ext cx="238835" cy="22746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C26799-98AA-1E0D-ACEC-BCDD252AAF31}"/>
              </a:ext>
            </a:extLst>
          </p:cNvPr>
          <p:cNvSpPr/>
          <p:nvPr/>
        </p:nvSpPr>
        <p:spPr>
          <a:xfrm>
            <a:off x="3672275" y="3547949"/>
            <a:ext cx="238835" cy="22746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C1EA96-A3C3-E95E-9B13-0790FA093FEE}"/>
              </a:ext>
            </a:extLst>
          </p:cNvPr>
          <p:cNvSpPr/>
          <p:nvPr/>
        </p:nvSpPr>
        <p:spPr>
          <a:xfrm>
            <a:off x="3672275" y="4445648"/>
            <a:ext cx="238835" cy="22746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71CDFA-B3DF-012A-AEFB-6EC951A4F7CF}"/>
              </a:ext>
            </a:extLst>
          </p:cNvPr>
          <p:cNvSpPr/>
          <p:nvPr/>
        </p:nvSpPr>
        <p:spPr>
          <a:xfrm>
            <a:off x="6615891" y="2441483"/>
            <a:ext cx="238835" cy="227462"/>
          </a:xfrm>
          <a:prstGeom prst="rect">
            <a:avLst/>
          </a:prstGeom>
          <a:solidFill>
            <a:srgbClr val="ED880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CA1AD18-ADF3-AB29-37CE-EE5A5FB0858B}"/>
              </a:ext>
            </a:extLst>
          </p:cNvPr>
          <p:cNvSpPr/>
          <p:nvPr/>
        </p:nvSpPr>
        <p:spPr>
          <a:xfrm>
            <a:off x="6615891" y="3433127"/>
            <a:ext cx="238835" cy="22746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31EF99-9A60-474C-B056-577467022320}"/>
              </a:ext>
            </a:extLst>
          </p:cNvPr>
          <p:cNvSpPr/>
          <p:nvPr/>
        </p:nvSpPr>
        <p:spPr>
          <a:xfrm>
            <a:off x="6615891" y="4445648"/>
            <a:ext cx="238835" cy="22746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C91D45F-4FD5-2F29-318E-3E2F1A6BA138}"/>
              </a:ext>
            </a:extLst>
          </p:cNvPr>
          <p:cNvSpPr/>
          <p:nvPr/>
        </p:nvSpPr>
        <p:spPr>
          <a:xfrm>
            <a:off x="9162850" y="2441483"/>
            <a:ext cx="238835" cy="22746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9827EEB-BAD8-3EA9-705B-6B042291AC7D}"/>
              </a:ext>
            </a:extLst>
          </p:cNvPr>
          <p:cNvSpPr/>
          <p:nvPr/>
        </p:nvSpPr>
        <p:spPr>
          <a:xfrm>
            <a:off x="9162850" y="3433127"/>
            <a:ext cx="238835" cy="227462"/>
          </a:xfrm>
          <a:prstGeom prst="rect">
            <a:avLst/>
          </a:prstGeom>
          <a:solidFill>
            <a:srgbClr val="ED880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C433426-2E7F-161D-2D7E-52C27FFAAFB6}"/>
              </a:ext>
            </a:extLst>
          </p:cNvPr>
          <p:cNvSpPr/>
          <p:nvPr/>
        </p:nvSpPr>
        <p:spPr>
          <a:xfrm>
            <a:off x="9162850" y="4445648"/>
            <a:ext cx="238835" cy="22746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4DC5FE-9498-8C8E-301F-84B98F70BB71}"/>
              </a:ext>
            </a:extLst>
          </p:cNvPr>
          <p:cNvSpPr txBox="1"/>
          <p:nvPr/>
        </p:nvSpPr>
        <p:spPr>
          <a:xfrm>
            <a:off x="427973" y="4984315"/>
            <a:ext cx="609600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v"/>
            </a:pPr>
            <a:endParaRPr lang="en-US" sz="2400" b="1" dirty="0">
              <a:solidFill>
                <a:srgbClr val="FF0000"/>
              </a:solidFill>
              <a:latin typeface="Aptos"/>
            </a:endParaRPr>
          </a:p>
          <a:p>
            <a:pPr marL="342900" indent="-342900">
              <a:buFont typeface="Wingdings"/>
              <a:buChar char="v"/>
            </a:pPr>
            <a:r>
              <a:rPr lang="en-US" sz="2400" b="1">
                <a:solidFill>
                  <a:srgbClr val="FF0000"/>
                </a:solidFill>
                <a:latin typeface="Aptos"/>
              </a:rPr>
              <a:t>Risk Priority</a:t>
            </a:r>
            <a:endParaRPr lang="en-US" sz="2400" b="1">
              <a:solidFill>
                <a:srgbClr val="FF0000"/>
              </a:solidFill>
            </a:endParaRPr>
          </a:p>
          <a:p>
            <a:pPr marL="342900" indent="-342900">
              <a:buFont typeface="Wingdings"/>
              <a:buChar char="v"/>
            </a:pPr>
            <a:endParaRPr lang="en-US" sz="2400" b="1" dirty="0">
              <a:solidFill>
                <a:srgbClr val="FF0000"/>
              </a:solidFill>
              <a:ea typeface="+mn-lt"/>
              <a:cs typeface="+mn-lt"/>
            </a:endParaRPr>
          </a:p>
          <a:p>
            <a:r>
              <a:rPr lang="en-US" b="1">
                <a:ea typeface="+mn-lt"/>
                <a:cs typeface="+mn-lt"/>
              </a:rPr>
              <a:t>Performance Risk is the highest-priority risk and requires immediate management attention and corrective action.</a:t>
            </a:r>
            <a:endParaRPr lang="en-US" b="1">
              <a:latin typeface="Aptos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022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365</Words>
  <Application>Microsoft Office PowerPoint</Application>
  <PresentationFormat>Widescreen</PresentationFormat>
  <Paragraphs>112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Wingdings</vt:lpstr>
      <vt:lpstr>Office Theme</vt:lpstr>
      <vt:lpstr>Cost Estimation Methology &amp; Budget </vt:lpstr>
      <vt:lpstr>Project Cost Baseline</vt:lpstr>
      <vt:lpstr> Time-Phased Cost Baseline Planned project expenditure from April to October 2026 </vt:lpstr>
      <vt:lpstr>Financial Justification</vt:lpstr>
      <vt:lpstr>Risk Management Plan  Managing Uncertainty through an Agile approach</vt:lpstr>
      <vt:lpstr>Key Project Risks </vt:lpstr>
      <vt:lpstr> Probability &amp; Impact Matrix Risk Response Framework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fioralba ruci</dc:creator>
  <cp:lastModifiedBy>fioralba ruci</cp:lastModifiedBy>
  <cp:revision>3</cp:revision>
  <dcterms:created xsi:type="dcterms:W3CDTF">2026-08-13T09:43:21Z</dcterms:created>
  <dcterms:modified xsi:type="dcterms:W3CDTF">2026-08-20T09:11:49Z</dcterms:modified>
</cp:coreProperties>
</file>